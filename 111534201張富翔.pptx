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Inter" panose="02020500000000000000" charset="0"/>
      <p:regular r:id="rId15"/>
      <p:bold r:id="rId16"/>
      <p:italic r:id="rId17"/>
      <p:boldItalic r:id="rId18"/>
    </p:embeddedFont>
    <p:embeddedFont>
      <p:font typeface="Inter Medium" panose="02020500000000000000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1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1963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35882" y="1339304"/>
            <a:ext cx="7120235" cy="417924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67952" y="2049954"/>
            <a:ext cx="6256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PyAsset</a:t>
            </a:r>
            <a:r>
              <a:rPr lang="en-US" sz="48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Pro </a:t>
            </a:r>
            <a:r>
              <a:rPr lang="en-US" sz="480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投資管家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116857" y="3244275"/>
            <a:ext cx="595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個人資產與損益管理系統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116907" y="4137421"/>
            <a:ext cx="595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報告人：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張富翔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16906" y="4632720"/>
            <a:ext cx="6185843" cy="36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2025/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01/</a:t>
            </a:r>
            <a:r>
              <a:rPr lang="en-US" altLang="zh-TW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95875" y="4194571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34012" y="4689871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2650"/>
            <a:ext cx="5334000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52650"/>
            <a:ext cx="5334000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62025" y="2543175"/>
            <a:ext cx="47805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痛點分析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962025" y="3067050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77025" y="2543175"/>
            <a:ext cx="47805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專案目標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677025" y="3067050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19375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047750" y="33147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52525" y="33147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損益功能不足：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市面記帳軟體多專注於現金流，缺乏對「投資損益」的即時計算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047750" y="4038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52525" y="40386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跨平台整合難：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券商 App 無法同時管理 台股 (TWD) 與 加密貨幣 (USD) 資產。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47750" y="4762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152525" y="47625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歷史紀錄丟失：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一般看盤軟體在賣出股票後，獲利紀錄即消失，無法追蹤「已實現損益」。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619375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6762750" y="37338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867525" y="373380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整合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雙幣別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(TWD/USD)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自動匯率換算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115" name="Google Shape;115;p14"/>
          <p:cNvSpPr txBox="1"/>
          <p:nvPr/>
        </p:nvSpPr>
        <p:spPr>
          <a:xfrm>
            <a:off x="6762750" y="41529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867525" y="41529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實現即時報價串接、Plotly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互動走勢圖與嚴謹的歷史損益追蹤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專案動機與目標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9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339554"/>
            <a:ext cx="1725822" cy="1350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9289" y="3339554"/>
            <a:ext cx="2080116" cy="1350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3080" y="3339554"/>
            <a:ext cx="1988790" cy="1350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68095" y="3339554"/>
            <a:ext cx="1988790" cy="1350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0787" y="3349137"/>
            <a:ext cx="1274140" cy="12610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/>
          <p:nvPr/>
        </p:nvSpPr>
        <p:spPr>
          <a:xfrm>
            <a:off x="1108978" y="33395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3373993" y="33395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639009" y="33395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904024" y="33395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9920714" y="33395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279250" y="3758654"/>
            <a:ext cx="188820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Week 1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324208" y="4111079"/>
            <a:ext cx="1798290" cy="257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架構</a:t>
            </a:r>
            <a:r>
              <a:rPr lang="zh-TW" alt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架構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搭建</a:t>
            </a:r>
            <a:endParaRPr sz="1800" dirty="0"/>
          </a:p>
        </p:txBody>
      </p:sp>
      <p:sp>
        <p:nvSpPr>
          <p:cNvPr id="137" name="Google Shape;137;p15"/>
          <p:cNvSpPr txBox="1"/>
          <p:nvPr/>
        </p:nvSpPr>
        <p:spPr>
          <a:xfrm>
            <a:off x="2544191" y="3710043"/>
            <a:ext cx="188820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Week 2</a:t>
            </a:r>
            <a:endParaRPr dirty="0"/>
          </a:p>
        </p:txBody>
      </p:sp>
      <p:sp>
        <p:nvSpPr>
          <p:cNvPr id="138" name="Google Shape;138;p15"/>
          <p:cNvSpPr txBox="1"/>
          <p:nvPr/>
        </p:nvSpPr>
        <p:spPr>
          <a:xfrm>
            <a:off x="2544266" y="4111079"/>
            <a:ext cx="1982588" cy="257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核心演算與</a:t>
            </a:r>
            <a:r>
              <a:rPr lang="en-US" altLang="zh-TW" sz="18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</a:t>
            </a:r>
            <a:r>
              <a:rPr lang="zh-TW" altLang="en-US" sz="18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串接</a:t>
            </a:r>
            <a:endParaRPr lang="zh-TW" altLang="en-US" sz="1800"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4809281" y="3758654"/>
            <a:ext cx="188820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Week 3</a:t>
            </a:r>
            <a:endParaRPr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4854238" y="4111079"/>
            <a:ext cx="1798290" cy="257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資料視覺化</a:t>
            </a:r>
            <a:endParaRPr sz="1800"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7074296" y="3758654"/>
            <a:ext cx="188820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Week 4</a:t>
            </a:r>
            <a:endParaRPr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7119253" y="4111079"/>
            <a:ext cx="1798290" cy="51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進階功能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已實現損益</a:t>
            </a:r>
            <a:endParaRPr sz="1800" dirty="0"/>
          </a:p>
        </p:txBody>
      </p:sp>
      <p:sp>
        <p:nvSpPr>
          <p:cNvPr id="143" name="Google Shape;143;p15"/>
          <p:cNvSpPr txBox="1"/>
          <p:nvPr/>
        </p:nvSpPr>
        <p:spPr>
          <a:xfrm>
            <a:off x="9217718" y="3732028"/>
            <a:ext cx="167076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Week 5</a:t>
            </a:r>
            <a:endParaRPr dirty="0"/>
          </a:p>
        </p:txBody>
      </p:sp>
      <p:sp>
        <p:nvSpPr>
          <p:cNvPr id="144" name="Google Shape;144;p15"/>
          <p:cNvSpPr txBox="1"/>
          <p:nvPr/>
        </p:nvSpPr>
        <p:spPr>
          <a:xfrm>
            <a:off x="9333110" y="4237544"/>
            <a:ext cx="1378973" cy="257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優化</a:t>
            </a:r>
            <a:endParaRPr sz="1800" dirty="0"/>
          </a:p>
        </p:txBody>
      </p:sp>
      <p:sp>
        <p:nvSpPr>
          <p:cNvPr id="145" name="Google Shape;145;p15"/>
          <p:cNvSpPr txBox="1"/>
          <p:nvPr/>
        </p:nvSpPr>
        <p:spPr>
          <a:xfrm>
            <a:off x="571500" y="571500"/>
            <a:ext cx="11601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開發時程總覽</a:t>
            </a:r>
            <a:r>
              <a:rPr lang="en-US" sz="36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3600" dirty="0"/>
          </a:p>
        </p:txBody>
      </p:sp>
      <p:sp>
        <p:nvSpPr>
          <p:cNvPr id="146" name="Google Shape;146;p15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128;p15" descr="image.png">
            <a:extLst>
              <a:ext uri="{FF2B5EF4-FFF2-40B4-BE49-F238E27FC236}">
                <a16:creationId xmlns:a16="http://schemas.microsoft.com/office/drawing/2014/main" id="{3CE80089-36CD-AC14-6166-097A2D1824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12083" y="3339554"/>
            <a:ext cx="1461017" cy="127060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4;p15">
            <a:extLst>
              <a:ext uri="{FF2B5EF4-FFF2-40B4-BE49-F238E27FC236}">
                <a16:creationId xmlns:a16="http://schemas.microsoft.com/office/drawing/2014/main" id="{15F5E07F-7BFB-6F98-993F-B3343841E5CD}"/>
              </a:ext>
            </a:extLst>
          </p:cNvPr>
          <p:cNvSpPr/>
          <p:nvPr/>
        </p:nvSpPr>
        <p:spPr>
          <a:xfrm>
            <a:off x="11295273" y="33491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3;p15">
            <a:extLst>
              <a:ext uri="{FF2B5EF4-FFF2-40B4-BE49-F238E27FC236}">
                <a16:creationId xmlns:a16="http://schemas.microsoft.com/office/drawing/2014/main" id="{51900E74-B197-8A28-DCE1-30158E6B921A}"/>
              </a:ext>
            </a:extLst>
          </p:cNvPr>
          <p:cNvSpPr txBox="1"/>
          <p:nvPr/>
        </p:nvSpPr>
        <p:spPr>
          <a:xfrm>
            <a:off x="10303796" y="3764203"/>
            <a:ext cx="188820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Week </a:t>
            </a:r>
            <a:r>
              <a:rPr lang="en-US" altLang="zh-TW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dirty="0"/>
          </a:p>
        </p:txBody>
      </p:sp>
      <p:sp>
        <p:nvSpPr>
          <p:cNvPr id="4" name="Google Shape;144;p15">
            <a:extLst>
              <a:ext uri="{FF2B5EF4-FFF2-40B4-BE49-F238E27FC236}">
                <a16:creationId xmlns:a16="http://schemas.microsoft.com/office/drawing/2014/main" id="{F50FF665-48FD-FFB1-A080-DC5A04AFABAA}"/>
              </a:ext>
            </a:extLst>
          </p:cNvPr>
          <p:cNvSpPr txBox="1"/>
          <p:nvPr/>
        </p:nvSpPr>
        <p:spPr>
          <a:xfrm>
            <a:off x="10510428" y="4144407"/>
            <a:ext cx="1798290" cy="257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dirty="0">
                <a:solidFill>
                  <a:srgbClr val="94A3B8"/>
                </a:solidFill>
                <a:latin typeface="Inter"/>
                <a:sym typeface="Inter"/>
              </a:rPr>
              <a:t>增加</a:t>
            </a:r>
            <a:r>
              <a:rPr lang="en-US" altLang="zh-TW" sz="18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MA</a:t>
            </a:r>
            <a:r>
              <a:rPr lang="zh-TW" altLang="en-US" sz="1800" dirty="0">
                <a:solidFill>
                  <a:srgbClr val="94A3B8"/>
                </a:solidFill>
                <a:latin typeface="Inter"/>
                <a:ea typeface="Inter"/>
                <a:sym typeface="Inter"/>
              </a:rPr>
              <a:t>線</a:t>
            </a:r>
            <a:endParaRPr lang="zh-TW" altLang="en-US" sz="1800" dirty="0"/>
          </a:p>
        </p:txBody>
      </p:sp>
      <p:sp>
        <p:nvSpPr>
          <p:cNvPr id="129" name="Google Shape;129;p15"/>
          <p:cNvSpPr/>
          <p:nvPr/>
        </p:nvSpPr>
        <p:spPr>
          <a:xfrm>
            <a:off x="82550" y="3993863"/>
            <a:ext cx="12026900" cy="488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5334000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52675"/>
            <a:ext cx="5334000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962025" y="2743200"/>
            <a:ext cx="47805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開發重點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962025" y="3267075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6677025" y="2743200"/>
            <a:ext cx="47805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挑戰與解決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6677025" y="3267075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677025" y="3705225"/>
            <a:ext cx="4552950" cy="514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6819900" y="3848100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問題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資料讀寫頻繁，容易造成格式不一致或檔案鎖定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160" name="Google Shape;160;p16"/>
          <p:cNvSpPr/>
          <p:nvPr/>
        </p:nvSpPr>
        <p:spPr>
          <a:xfrm>
            <a:off x="6677025" y="3705225"/>
            <a:ext cx="38100" cy="514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6677025" y="4314825"/>
            <a:ext cx="4552950" cy="9715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6819900" y="4457700"/>
            <a:ext cx="426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解決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建立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data_manager.py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模組，統一管理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JSON 的 Load/Save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操作，並加入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try-except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例外處理防止檔案損毀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163" name="Google Shape;163;p16"/>
          <p:cNvSpPr/>
          <p:nvPr/>
        </p:nvSpPr>
        <p:spPr>
          <a:xfrm>
            <a:off x="6677025" y="4314825"/>
            <a:ext cx="38100" cy="9715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819400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1047750" y="3514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152525" y="3514725"/>
            <a:ext cx="4362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建立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r>
              <a:rPr lang="zh-TW" alt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、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專案框架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167" name="Google Shape;167;p16"/>
          <p:cNvSpPr txBox="1"/>
          <p:nvPr/>
        </p:nvSpPr>
        <p:spPr>
          <a:xfrm>
            <a:off x="1047750" y="39338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1152525" y="393382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設計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portfolio.json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儲存庫存資料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pic>
        <p:nvPicPr>
          <p:cNvPr id="171" name="Google Shape;17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819400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Week 1 - </a:t>
            </a:r>
            <a:r>
              <a:rPr lang="en-US" sz="315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系統架構搭建</a:t>
            </a:r>
            <a:endParaRPr dirty="0"/>
          </a:p>
        </p:txBody>
      </p:sp>
      <p:sp>
        <p:nvSpPr>
          <p:cNvPr id="173" name="Google Shape;173;p16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5050"/>
            <a:ext cx="53340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05050"/>
            <a:ext cx="533400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962025" y="2695575"/>
            <a:ext cx="47805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開發重點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962025" y="3219450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677025" y="2695575"/>
            <a:ext cx="47805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挑戰與解決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677025" y="3219450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6677025" y="3657600"/>
            <a:ext cx="4552950" cy="514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819900" y="3800475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問題：</a:t>
            </a: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台股 (0050) 被誤判為美元，導致資產虛胖 30 倍。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6677025" y="3657600"/>
            <a:ext cx="38100" cy="514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677025" y="4267200"/>
            <a:ext cx="4552950" cy="9715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6819900" y="4410075"/>
            <a:ext cx="426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解決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重構幣別邏輯。在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API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回傳層級加入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currency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欄位驗證，並在前端強制區分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format_currency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函式，確保台股只顯示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NT$。</a:t>
            </a:r>
            <a:endParaRPr dirty="0"/>
          </a:p>
        </p:txBody>
      </p:sp>
      <p:sp>
        <p:nvSpPr>
          <p:cNvPr id="190" name="Google Shape;190;p17"/>
          <p:cNvSpPr/>
          <p:nvPr/>
        </p:nvSpPr>
        <p:spPr>
          <a:xfrm>
            <a:off x="6677025" y="4267200"/>
            <a:ext cx="38100" cy="9715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71775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1047750" y="34671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1152524" y="3467100"/>
            <a:ext cx="45053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串接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yfinance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台美股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與 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CoinGecko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加密貨幣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 API。</a:t>
            </a:r>
            <a:endParaRPr dirty="0"/>
          </a:p>
        </p:txBody>
      </p:sp>
      <p:sp>
        <p:nvSpPr>
          <p:cNvPr id="196" name="Google Shape;196;p17"/>
          <p:cNvSpPr txBox="1"/>
          <p:nvPr/>
        </p:nvSpPr>
        <p:spPr>
          <a:xfrm>
            <a:off x="1000125" y="4714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dirty="0"/>
          </a:p>
        </p:txBody>
      </p:sp>
      <p:sp>
        <p:nvSpPr>
          <p:cNvPr id="197" name="Google Shape;197;p17"/>
          <p:cNvSpPr txBox="1"/>
          <p:nvPr/>
        </p:nvSpPr>
        <p:spPr>
          <a:xfrm>
            <a:off x="1104900" y="471487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計算未實現損益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(Unrealized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PnL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)。</a:t>
            </a:r>
            <a:endParaRPr dirty="0"/>
          </a:p>
        </p:txBody>
      </p:sp>
      <p:pic>
        <p:nvPicPr>
          <p:cNvPr id="198" name="Google Shape;19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771775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Week 2 - </a:t>
            </a:r>
            <a:r>
              <a:rPr lang="en-US" sz="315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核心運算與</a:t>
            </a: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API </a:t>
            </a:r>
            <a:r>
              <a:rPr lang="en-US" sz="315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串接</a:t>
            </a:r>
            <a:endParaRPr dirty="0"/>
          </a:p>
        </p:txBody>
      </p:sp>
      <p:sp>
        <p:nvSpPr>
          <p:cNvPr id="200" name="Google Shape;200;p17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7100" y="2986075"/>
            <a:ext cx="6004850" cy="2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657225" y="26812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762000" y="2681287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互動式圖表：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捨棄靜態 Matplotlib，全面改用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Plotly Express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57225" y="34051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762000" y="340518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資產配置：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製作圓餅圖與支出類別分析。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657225" y="38242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762000" y="382428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UI 優化：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引入分頁 (Tabs) 切換股票與幣圈。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762000" y="4319587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技術突破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解決圖表縮放與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Hover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資訊缺失問題，透過設定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textinfo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與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hover_data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提升可讀性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pic>
        <p:nvPicPr>
          <p:cNvPr id="214" name="Google Shape;21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3767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Week 3 - </a:t>
            </a:r>
            <a:r>
              <a:rPr lang="en-US" sz="315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視覺化升級</a:t>
            </a:r>
            <a:endParaRPr dirty="0"/>
          </a:p>
        </p:txBody>
      </p:sp>
      <p:sp>
        <p:nvSpPr>
          <p:cNvPr id="216" name="Google Shape;216;p18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7100" y="2986075"/>
            <a:ext cx="6004849" cy="2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2625"/>
            <a:ext cx="5334000" cy="41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52625"/>
            <a:ext cx="5334000" cy="41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3914775"/>
            <a:ext cx="455295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962025" y="2343150"/>
            <a:ext cx="47805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開發重點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962025" y="2867025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6677025" y="2343150"/>
            <a:ext cx="47805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挑戰與解決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6677025" y="2867025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6677025" y="3305175"/>
            <a:ext cx="4552950" cy="514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6819900" y="3448050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問題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程式碼結構混亂，導致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Circular Import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錯誤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232" name="Google Shape;232;p19"/>
          <p:cNvSpPr/>
          <p:nvPr/>
        </p:nvSpPr>
        <p:spPr>
          <a:xfrm>
            <a:off x="6677025" y="3305175"/>
            <a:ext cx="38100" cy="5143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419350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/>
        </p:nvSpPr>
        <p:spPr>
          <a:xfrm>
            <a:off x="1047750" y="3114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1152525" y="3114675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實作</a:t>
            </a: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「賣出結算」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邏輯：將獲利寫入 realized_pnl.json 而非單純刪除。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1047750" y="38385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152525" y="383857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建立 history.csv 自動記錄每日淨值。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1047750" y="4257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1152525" y="4257675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新增賣出單位選擇 (台股自動換算張/股)。</a:t>
            </a:r>
            <a:endParaRPr/>
          </a:p>
        </p:txBody>
      </p:sp>
      <p:pic>
        <p:nvPicPr>
          <p:cNvPr id="240" name="Google Shape;24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2419350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9"/>
          <p:cNvSpPr txBox="1"/>
          <p:nvPr/>
        </p:nvSpPr>
        <p:spPr>
          <a:xfrm>
            <a:off x="6858000" y="4086225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解決：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943725" y="42862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7048500" y="4286250"/>
            <a:ext cx="4038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data_manager.py: 檔案讀寫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6943725" y="4705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7048500" y="4705350"/>
            <a:ext cx="4038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api_handler.py: 外部資料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943725" y="51244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7048500" y="5124450"/>
            <a:ext cx="4038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dashboard_app.py: UI 顯示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Week 4 - </a:t>
            </a:r>
            <a:r>
              <a:rPr lang="en-US" sz="315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進階</a:t>
            </a:r>
            <a:r>
              <a:rPr lang="zh-TW" alt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功能</a:t>
            </a: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315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已實現損益</a:t>
            </a: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sp>
        <p:nvSpPr>
          <p:cNvPr id="249" name="Google Shape;249;p19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97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/>
          <p:nvPr/>
        </p:nvSpPr>
        <p:spPr>
          <a:xfrm>
            <a:off x="571500" y="4348162"/>
            <a:ext cx="5286375" cy="9715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714375" y="4491037"/>
            <a:ext cx="50006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走勢圖修正：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修正 Y 軸從 0 開始導致波動不明顯的問題。改用 yaxis_range 動態計算 (Min/Max ± padding)。</a:t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571500" y="4348162"/>
            <a:ext cx="38100" cy="9715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193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657225" y="27098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762000" y="27098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個股走勢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點擊資產即顯示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1D/1W/1M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走勢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262" name="Google Shape;262;p20"/>
          <p:cNvSpPr txBox="1"/>
          <p:nvPr/>
        </p:nvSpPr>
        <p:spPr>
          <a:xfrm>
            <a:off x="657225" y="31289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762000" y="3128962"/>
            <a:ext cx="5095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列表優化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移除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Checkbox，</a:t>
            </a:r>
            <a:endParaRPr dirty="0"/>
          </a:p>
        </p:txBody>
      </p:sp>
      <p:sp>
        <p:nvSpPr>
          <p:cNvPr id="264" name="Google Shape;264;p20"/>
          <p:cNvSpPr txBox="1"/>
          <p:nvPr/>
        </p:nvSpPr>
        <p:spPr>
          <a:xfrm>
            <a:off x="657225" y="38528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762000" y="38528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緊湊排版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透過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CSS Hack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移除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Streamlit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預設大間距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pic>
        <p:nvPicPr>
          <p:cNvPr id="266" name="Google Shape;26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475" y="4538662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Week 5 - </a:t>
            </a:r>
            <a:r>
              <a:rPr lang="en-US" sz="315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優化</a:t>
            </a:r>
            <a:endParaRPr dirty="0"/>
          </a:p>
        </p:txBody>
      </p:sp>
      <p:sp>
        <p:nvSpPr>
          <p:cNvPr id="268" name="Google Shape;268;p20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97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/>
          <p:nvPr/>
        </p:nvSpPr>
        <p:spPr>
          <a:xfrm>
            <a:off x="571500" y="4348162"/>
            <a:ext cx="5286375" cy="9715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714375" y="4491037"/>
            <a:ext cx="50006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走勢圖修正：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修正 Y 軸從 0 開始導致波動不明顯的問題。改用 yaxis_range 動態計算 (Min/Max ± padding)。</a:t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571500" y="4348162"/>
            <a:ext cx="38100" cy="9715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193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657225" y="27098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762000" y="27098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個股走勢：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點擊資產即顯示 1D/1W/1M 走勢。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657225" y="31289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762000" y="3128962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列表優化：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移除 Checkbox，改用「全寬度無框按鈕」，模擬 Excel 質感。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657225" y="38528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762000" y="3852862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緊湊排版：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透過 CSS Hack 移除 Streamlit 預設大間距。</a:t>
            </a:r>
            <a:endParaRPr/>
          </a:p>
        </p:txBody>
      </p:sp>
      <p:pic>
        <p:nvPicPr>
          <p:cNvPr id="266" name="Google Shape;26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475" y="4538662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Week </a:t>
            </a:r>
            <a:r>
              <a:rPr lang="en-US" altLang="zh-TW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lang="zh-TW" alt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增加</a:t>
            </a:r>
            <a:r>
              <a:rPr lang="en-US" altLang="zh-TW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MA</a:t>
            </a:r>
            <a:r>
              <a:rPr lang="zh-TW" alt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線</a:t>
            </a:r>
            <a:endParaRPr dirty="0"/>
          </a:p>
        </p:txBody>
      </p:sp>
      <p:sp>
        <p:nvSpPr>
          <p:cNvPr id="268" name="Google Shape;268;p20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4369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6544"/>
            <a:ext cx="3492400" cy="3316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56544"/>
            <a:ext cx="3492549" cy="3316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356550"/>
            <a:ext cx="3710375" cy="33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723900" y="5251057"/>
            <a:ext cx="3187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首頁看板</a:t>
            </a:r>
            <a:endParaRPr sz="2000"/>
          </a:p>
        </p:txBody>
      </p:sp>
      <p:sp>
        <p:nvSpPr>
          <p:cNvPr id="278" name="Google Shape;278;p21"/>
          <p:cNvSpPr txBox="1"/>
          <p:nvPr/>
        </p:nvSpPr>
        <p:spPr>
          <a:xfrm>
            <a:off x="4537238" y="5276844"/>
            <a:ext cx="3187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資產列表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8424575" y="5276844"/>
            <a:ext cx="3187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走勢圖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系統展示 (System Demo)</a:t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0" y="2728348"/>
            <a:ext cx="3492552" cy="1721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49726" y="2728362"/>
            <a:ext cx="3492398" cy="2104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0DB744F-18C9-82A9-F11E-75E57397C2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7796" y="3035299"/>
            <a:ext cx="3710375" cy="15348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1" y="2152650"/>
            <a:ext cx="5334000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52650"/>
            <a:ext cx="5334000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962025" y="2543175"/>
            <a:ext cx="47805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專案成果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962025" y="3067050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6677025" y="2543175"/>
            <a:ext cx="4780597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未來展望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6677025" y="3067050"/>
            <a:ext cx="4552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19375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1047750" y="33147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1152525" y="33147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痛點解決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成功實現「跨幣別計算」與「已實現損益」追蹤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pic>
        <p:nvPicPr>
          <p:cNvPr id="303" name="Google Shape;30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619375"/>
            <a:ext cx="190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/>
        </p:nvSpPr>
        <p:spPr>
          <a:xfrm>
            <a:off x="6762750" y="33147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6867525" y="33147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資料庫升級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將 JSON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升級為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SQLite/PostgreSQL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以支援大數據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306" name="Google Shape;306;p22"/>
          <p:cNvSpPr txBox="1"/>
          <p:nvPr/>
        </p:nvSpPr>
        <p:spPr>
          <a:xfrm>
            <a:off x="6762750" y="4038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6867525" y="4038600"/>
            <a:ext cx="4362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複利計算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加入定期定額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(SIP)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投資試算功能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308" name="Google Shape;308;p22"/>
          <p:cNvSpPr txBox="1"/>
          <p:nvPr/>
        </p:nvSpPr>
        <p:spPr>
          <a:xfrm>
            <a:off x="6762750" y="44577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6867525" y="4457700"/>
            <a:ext cx="4362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行動版優化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：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針對手機瀏覽器進行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CSS RWD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微調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310" name="Google Shape;310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結論與未來展望</a:t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571500" y="13430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295200" y="2851794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感謝聆聽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493</Words>
  <Application>Microsoft Office PowerPoint</Application>
  <PresentationFormat>寬螢幕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Inter Medium</vt:lpstr>
      <vt:lpstr>Inter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YUNXI JI</cp:lastModifiedBy>
  <cp:revision>2</cp:revision>
  <dcterms:modified xsi:type="dcterms:W3CDTF">2026-01-01T10:48:30Z</dcterms:modified>
</cp:coreProperties>
</file>